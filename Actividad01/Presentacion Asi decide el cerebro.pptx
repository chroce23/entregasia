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hildling" charset="1" panose="00000000000000000000"/>
      <p:regular r:id="rId13"/>
    </p:embeddedFont>
    <p:embeddedFont>
      <p:font typeface="Marykate" charset="1" panose="00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37039" y="2417062"/>
            <a:ext cx="14813922" cy="631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36"/>
              </a:lnSpc>
            </a:pPr>
            <a:r>
              <a:rPr lang="en-US" sz="24170" spc="-773">
                <a:solidFill>
                  <a:srgbClr val="003578"/>
                </a:solidFill>
                <a:latin typeface="Childling"/>
                <a:ea typeface="Childling"/>
                <a:cs typeface="Childling"/>
                <a:sym typeface="Childling"/>
              </a:rPr>
              <a:t>ASÍ DECIDE EL CEREBRO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741417" y="1135971"/>
            <a:ext cx="5157200" cy="1004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8"/>
              </a:lnSpc>
            </a:pPr>
            <a:r>
              <a:rPr lang="en-US" sz="3430" spc="353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PROGRAMACION AVANZADA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245906" y="5485712"/>
            <a:ext cx="1843201" cy="2431080"/>
          </a:xfrm>
          <a:custGeom>
            <a:avLst/>
            <a:gdLst/>
            <a:ahLst/>
            <a:cxnLst/>
            <a:rect r="r" b="b" t="t" l="l"/>
            <a:pathLst>
              <a:path h="2431080" w="1843201">
                <a:moveTo>
                  <a:pt x="0" y="0"/>
                </a:moveTo>
                <a:lnTo>
                  <a:pt x="1843200" y="0"/>
                </a:lnTo>
                <a:lnTo>
                  <a:pt x="1843200" y="2431080"/>
                </a:lnTo>
                <a:lnTo>
                  <a:pt x="0" y="2431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910484">
            <a:off x="-495162" y="7935975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806484">
            <a:off x="-3174902" y="3100376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137161">
            <a:off x="11071276" y="-3108299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4333730">
            <a:off x="15635070" y="-90841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700000">
            <a:off x="-1883985" y="-5382413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006254" y="8310119"/>
            <a:ext cx="12275493" cy="74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98"/>
              </a:lnSpc>
            </a:pPr>
            <a:r>
              <a:rPr lang="en-US" sz="4245" spc="437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BASADO EN LAS INVESTIGACIONES DE RANULFO ROMO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2700000">
            <a:off x="15458638" y="4595144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35949" y="477962"/>
            <a:ext cx="11921297" cy="2433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4"/>
              </a:lnSpc>
            </a:pPr>
            <a:r>
              <a:rPr lang="en-US" sz="9309">
                <a:solidFill>
                  <a:srgbClr val="022033"/>
                </a:solidFill>
                <a:latin typeface="Childling"/>
                <a:ea typeface="Childling"/>
                <a:cs typeface="Childling"/>
                <a:sym typeface="Childling"/>
              </a:rPr>
              <a:t> ¿SOMOS REALMENTE LIBRES AL ELEGIR?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030646" y="2911760"/>
            <a:ext cx="5091803" cy="2697894"/>
            <a:chOff x="0" y="0"/>
            <a:chExt cx="1341051" cy="7105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41051" cy="710556"/>
            </a:xfrm>
            <a:custGeom>
              <a:avLst/>
              <a:gdLst/>
              <a:ahLst/>
              <a:cxnLst/>
              <a:rect r="r" b="b" t="t" l="l"/>
              <a:pathLst>
                <a:path h="710556" w="1341051">
                  <a:moveTo>
                    <a:pt x="77544" y="0"/>
                  </a:moveTo>
                  <a:lnTo>
                    <a:pt x="1263507" y="0"/>
                  </a:lnTo>
                  <a:cubicBezTo>
                    <a:pt x="1284073" y="0"/>
                    <a:pt x="1303797" y="8170"/>
                    <a:pt x="1318339" y="22712"/>
                  </a:cubicBezTo>
                  <a:cubicBezTo>
                    <a:pt x="1332881" y="37254"/>
                    <a:pt x="1341051" y="56978"/>
                    <a:pt x="1341051" y="77544"/>
                  </a:cubicBezTo>
                  <a:lnTo>
                    <a:pt x="1341051" y="633012"/>
                  </a:lnTo>
                  <a:cubicBezTo>
                    <a:pt x="1341051" y="675839"/>
                    <a:pt x="1306333" y="710556"/>
                    <a:pt x="1263507" y="710556"/>
                  </a:cubicBezTo>
                  <a:lnTo>
                    <a:pt x="77544" y="710556"/>
                  </a:lnTo>
                  <a:cubicBezTo>
                    <a:pt x="56978" y="710556"/>
                    <a:pt x="37254" y="702387"/>
                    <a:pt x="22712" y="687844"/>
                  </a:cubicBezTo>
                  <a:cubicBezTo>
                    <a:pt x="8170" y="673302"/>
                    <a:pt x="0" y="653578"/>
                    <a:pt x="0" y="633012"/>
                  </a:cubicBezTo>
                  <a:lnTo>
                    <a:pt x="0" y="77544"/>
                  </a:lnTo>
                  <a:cubicBezTo>
                    <a:pt x="0" y="34718"/>
                    <a:pt x="34718" y="0"/>
                    <a:pt x="77544" y="0"/>
                  </a:cubicBezTo>
                  <a:close/>
                </a:path>
              </a:pathLst>
            </a:custGeom>
            <a:solidFill>
              <a:srgbClr val="61A0E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41051" cy="748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316273" y="3477117"/>
            <a:ext cx="4520549" cy="1490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spc="156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La mente consciente es solo un filtro que deja pasar lo más importante para sobrevivir.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750696" y="6466853"/>
            <a:ext cx="5091803" cy="2697894"/>
            <a:chOff x="0" y="0"/>
            <a:chExt cx="1341051" cy="7105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41051" cy="710556"/>
            </a:xfrm>
            <a:custGeom>
              <a:avLst/>
              <a:gdLst/>
              <a:ahLst/>
              <a:cxnLst/>
              <a:rect r="r" b="b" t="t" l="l"/>
              <a:pathLst>
                <a:path h="710556" w="1341051">
                  <a:moveTo>
                    <a:pt x="77544" y="0"/>
                  </a:moveTo>
                  <a:lnTo>
                    <a:pt x="1263507" y="0"/>
                  </a:lnTo>
                  <a:cubicBezTo>
                    <a:pt x="1284073" y="0"/>
                    <a:pt x="1303797" y="8170"/>
                    <a:pt x="1318339" y="22712"/>
                  </a:cubicBezTo>
                  <a:cubicBezTo>
                    <a:pt x="1332881" y="37254"/>
                    <a:pt x="1341051" y="56978"/>
                    <a:pt x="1341051" y="77544"/>
                  </a:cubicBezTo>
                  <a:lnTo>
                    <a:pt x="1341051" y="633012"/>
                  </a:lnTo>
                  <a:cubicBezTo>
                    <a:pt x="1341051" y="675839"/>
                    <a:pt x="1306333" y="710556"/>
                    <a:pt x="1263507" y="710556"/>
                  </a:cubicBezTo>
                  <a:lnTo>
                    <a:pt x="77544" y="710556"/>
                  </a:lnTo>
                  <a:cubicBezTo>
                    <a:pt x="56978" y="710556"/>
                    <a:pt x="37254" y="702387"/>
                    <a:pt x="22712" y="687844"/>
                  </a:cubicBezTo>
                  <a:cubicBezTo>
                    <a:pt x="8170" y="673302"/>
                    <a:pt x="0" y="653578"/>
                    <a:pt x="0" y="633012"/>
                  </a:cubicBezTo>
                  <a:lnTo>
                    <a:pt x="0" y="77544"/>
                  </a:lnTo>
                  <a:cubicBezTo>
                    <a:pt x="0" y="34718"/>
                    <a:pt x="34718" y="0"/>
                    <a:pt x="77544" y="0"/>
                  </a:cubicBezTo>
                  <a:close/>
                </a:path>
              </a:pathLst>
            </a:custGeom>
            <a:solidFill>
              <a:srgbClr val="D3E7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341051" cy="748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057139" y="6872353"/>
            <a:ext cx="4520549" cy="1986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spc="156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El ce</a:t>
            </a:r>
            <a:r>
              <a:rPr lang="en-US" sz="2799" spc="156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rebro toma las decisiones en el subconsciente milisegundos antes de que nos demos cuenta.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471994" y="2911760"/>
            <a:ext cx="5091803" cy="2697894"/>
            <a:chOff x="0" y="0"/>
            <a:chExt cx="1341051" cy="7105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1051" cy="710556"/>
            </a:xfrm>
            <a:custGeom>
              <a:avLst/>
              <a:gdLst/>
              <a:ahLst/>
              <a:cxnLst/>
              <a:rect r="r" b="b" t="t" l="l"/>
              <a:pathLst>
                <a:path h="710556" w="1341051">
                  <a:moveTo>
                    <a:pt x="77544" y="0"/>
                  </a:moveTo>
                  <a:lnTo>
                    <a:pt x="1263507" y="0"/>
                  </a:lnTo>
                  <a:cubicBezTo>
                    <a:pt x="1284073" y="0"/>
                    <a:pt x="1303797" y="8170"/>
                    <a:pt x="1318339" y="22712"/>
                  </a:cubicBezTo>
                  <a:cubicBezTo>
                    <a:pt x="1332881" y="37254"/>
                    <a:pt x="1341051" y="56978"/>
                    <a:pt x="1341051" y="77544"/>
                  </a:cubicBezTo>
                  <a:lnTo>
                    <a:pt x="1341051" y="633012"/>
                  </a:lnTo>
                  <a:cubicBezTo>
                    <a:pt x="1341051" y="675839"/>
                    <a:pt x="1306333" y="710556"/>
                    <a:pt x="1263507" y="710556"/>
                  </a:cubicBezTo>
                  <a:lnTo>
                    <a:pt x="77544" y="710556"/>
                  </a:lnTo>
                  <a:cubicBezTo>
                    <a:pt x="56978" y="710556"/>
                    <a:pt x="37254" y="702387"/>
                    <a:pt x="22712" y="687844"/>
                  </a:cubicBezTo>
                  <a:cubicBezTo>
                    <a:pt x="8170" y="673302"/>
                    <a:pt x="0" y="653578"/>
                    <a:pt x="0" y="633012"/>
                  </a:cubicBezTo>
                  <a:lnTo>
                    <a:pt x="0" y="77544"/>
                  </a:lnTo>
                  <a:cubicBezTo>
                    <a:pt x="0" y="34718"/>
                    <a:pt x="34718" y="0"/>
                    <a:pt x="77544" y="0"/>
                  </a:cubicBezTo>
                  <a:close/>
                </a:path>
              </a:pathLst>
            </a:custGeom>
            <a:solidFill>
              <a:srgbClr val="61A0E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41051" cy="748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218861" y="3477117"/>
            <a:ext cx="3598069" cy="1490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spc="156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T</a:t>
            </a:r>
            <a:r>
              <a:rPr lang="en-US" sz="2799" spc="156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odo acto voluntario empieza siendo involuntario.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7491922">
            <a:off x="-3415034" y="-4294567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0491939">
            <a:off x="15610956" y="3701000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5400000">
            <a:off x="14223439" y="-2437961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9" y="0"/>
                </a:lnTo>
                <a:lnTo>
                  <a:pt x="5942289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5400000">
            <a:off x="-2601628" y="3763338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9" y="0"/>
                </a:lnTo>
                <a:lnTo>
                  <a:pt x="5942289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84127" y="1849719"/>
            <a:ext cx="814462" cy="6587563"/>
          </a:xfrm>
          <a:custGeom>
            <a:avLst/>
            <a:gdLst/>
            <a:ahLst/>
            <a:cxnLst/>
            <a:rect r="r" b="b" t="t" l="l"/>
            <a:pathLst>
              <a:path h="6587563" w="814462">
                <a:moveTo>
                  <a:pt x="0" y="0"/>
                </a:moveTo>
                <a:lnTo>
                  <a:pt x="814462" y="0"/>
                </a:lnTo>
                <a:lnTo>
                  <a:pt x="814462" y="6587562"/>
                </a:lnTo>
                <a:lnTo>
                  <a:pt x="0" y="6587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19891" y="3280128"/>
            <a:ext cx="9908055" cy="524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31" indent="-399416" lvl="1">
              <a:lnSpc>
                <a:spcPts val="5180"/>
              </a:lnSpc>
              <a:spcBef>
                <a:spcPct val="0"/>
              </a:spcBef>
              <a:buFont typeface="Arial"/>
              <a:buChar char="•"/>
            </a:pPr>
            <a:r>
              <a:rPr lang="en-US" sz="3700" spc="207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El ce</a:t>
            </a:r>
            <a:r>
              <a:rPr lang="en-US" sz="3700" spc="207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rebro consume el 20% de la energía de todo el cuerpo.</a:t>
            </a:r>
          </a:p>
          <a:p>
            <a:pPr algn="l" marL="798831" indent="-399416" lvl="1">
              <a:lnSpc>
                <a:spcPts val="5180"/>
              </a:lnSpc>
              <a:spcBef>
                <a:spcPct val="0"/>
              </a:spcBef>
              <a:buFont typeface="Arial"/>
              <a:buChar char="•"/>
            </a:pPr>
            <a:r>
              <a:rPr lang="en-US" sz="3700" spc="207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No gasta energía analizando el presente, sino usando los recuerdos para adivinar qué pasará después.</a:t>
            </a:r>
          </a:p>
          <a:p>
            <a:pPr algn="l" marL="798831" indent="-399416" lvl="1">
              <a:lnSpc>
                <a:spcPts val="5180"/>
              </a:lnSpc>
              <a:spcBef>
                <a:spcPct val="0"/>
              </a:spcBef>
              <a:buFont typeface="Arial"/>
              <a:buChar char="•"/>
            </a:pPr>
            <a:r>
              <a:rPr lang="en-US" sz="3700" spc="207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Solo te alerta (con dolores o taquicardias) cuando algo sale mal o cambia el plan previsto.</a:t>
            </a:r>
          </a:p>
          <a:p>
            <a:pPr algn="l">
              <a:lnSpc>
                <a:spcPts val="518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5819891" y="1686243"/>
            <a:ext cx="10126223" cy="167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79"/>
              </a:lnSpc>
            </a:pPr>
            <a:r>
              <a:rPr lang="en-US" sz="11608">
                <a:solidFill>
                  <a:srgbClr val="022033"/>
                </a:solidFill>
                <a:latin typeface="Childling"/>
                <a:ea typeface="Childling"/>
                <a:cs typeface="Childling"/>
                <a:sym typeface="Childling"/>
              </a:rPr>
              <a:t>EL GASTO DE ENERGÍA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1137161">
            <a:off x="16140723" y="2861297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333730">
            <a:off x="15530761" y="6751870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5397">
            <a:off x="15229157" y="-3879341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9841823" y="-3604950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459995">
            <a:off x="4581302" y="-2806779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7491922">
            <a:off x="-2893486" y="-4987080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6784072">
            <a:off x="-2971144" y="2887494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459995">
            <a:off x="-1425658" y="7497003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2259001">
            <a:off x="3811502" y="8297380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6784072">
            <a:off x="8300863" y="9026402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9" y="0"/>
                </a:lnTo>
                <a:lnTo>
                  <a:pt x="5942289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459995">
            <a:off x="10957599" y="8699697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68405" y="2813251"/>
            <a:ext cx="3426506" cy="4114800"/>
          </a:xfrm>
          <a:custGeom>
            <a:avLst/>
            <a:gdLst/>
            <a:ahLst/>
            <a:cxnLst/>
            <a:rect r="r" b="b" t="t" l="l"/>
            <a:pathLst>
              <a:path h="4114800" w="3426506">
                <a:moveTo>
                  <a:pt x="0" y="0"/>
                </a:moveTo>
                <a:lnTo>
                  <a:pt x="3426506" y="0"/>
                </a:lnTo>
                <a:lnTo>
                  <a:pt x="342650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02672" y="2813852"/>
            <a:ext cx="9682657" cy="6265521"/>
            <a:chOff x="0" y="0"/>
            <a:chExt cx="2550165" cy="16501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0165" cy="1650178"/>
            </a:xfrm>
            <a:custGeom>
              <a:avLst/>
              <a:gdLst/>
              <a:ahLst/>
              <a:cxnLst/>
              <a:rect r="r" b="b" t="t" l="l"/>
              <a:pathLst>
                <a:path h="1650178" w="2550165">
                  <a:moveTo>
                    <a:pt x="27985" y="0"/>
                  </a:moveTo>
                  <a:lnTo>
                    <a:pt x="2522180" y="0"/>
                  </a:lnTo>
                  <a:cubicBezTo>
                    <a:pt x="2537635" y="0"/>
                    <a:pt x="2550165" y="12529"/>
                    <a:pt x="2550165" y="27985"/>
                  </a:cubicBezTo>
                  <a:lnTo>
                    <a:pt x="2550165" y="1622194"/>
                  </a:lnTo>
                  <a:cubicBezTo>
                    <a:pt x="2550165" y="1629616"/>
                    <a:pt x="2547216" y="1636734"/>
                    <a:pt x="2541968" y="1641982"/>
                  </a:cubicBezTo>
                  <a:cubicBezTo>
                    <a:pt x="2536720" y="1647230"/>
                    <a:pt x="2529602" y="1650178"/>
                    <a:pt x="2522180" y="1650178"/>
                  </a:cubicBezTo>
                  <a:lnTo>
                    <a:pt x="27985" y="1650178"/>
                  </a:lnTo>
                  <a:cubicBezTo>
                    <a:pt x="20563" y="1650178"/>
                    <a:pt x="13445" y="1647230"/>
                    <a:pt x="8197" y="1641982"/>
                  </a:cubicBezTo>
                  <a:cubicBezTo>
                    <a:pt x="2948" y="1636734"/>
                    <a:pt x="0" y="1629616"/>
                    <a:pt x="0" y="1622194"/>
                  </a:cubicBezTo>
                  <a:lnTo>
                    <a:pt x="0" y="27985"/>
                  </a:lnTo>
                  <a:cubicBezTo>
                    <a:pt x="0" y="20563"/>
                    <a:pt x="2948" y="13445"/>
                    <a:pt x="8197" y="8197"/>
                  </a:cubicBezTo>
                  <a:cubicBezTo>
                    <a:pt x="13445" y="2948"/>
                    <a:pt x="20563" y="0"/>
                    <a:pt x="27985" y="0"/>
                  </a:cubicBezTo>
                  <a:close/>
                </a:path>
              </a:pathLst>
            </a:custGeom>
            <a:solidFill>
              <a:srgbClr val="D3E7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50165" cy="1688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103401" y="1095375"/>
            <a:ext cx="10081198" cy="1314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71"/>
              </a:lnSpc>
            </a:pPr>
            <a:r>
              <a:rPr lang="en-US" sz="9099">
                <a:solidFill>
                  <a:srgbClr val="022033"/>
                </a:solidFill>
                <a:latin typeface="Childling"/>
                <a:ea typeface="Childling"/>
                <a:cs typeface="Childling"/>
                <a:sym typeface="Childling"/>
              </a:rPr>
              <a:t>EL TRIBUNAL DE LA MENTE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27893" y="3774912"/>
            <a:ext cx="7832214" cy="426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168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Ant</a:t>
            </a:r>
            <a:r>
              <a:rPr lang="en-US" sz="3000" spc="168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e un dilema, la mente actúa como un juicio: los sentidos son los fiscales (lo malo) y la memoria es la defensa (lo bueno).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168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Las neuronas actúan como el juez que dicta el veredicto final.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168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El cerebro reptiliano (emocional) le da el verdadero valor a las cosas; sin emoción, nos bloquearíamos.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7491922">
            <a:off x="-4541578" y="-5401015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774774">
            <a:off x="-3290302" y="2455612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8544531">
            <a:off x="16830150" y="381214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7774774">
            <a:off x="14288156" y="8336982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784072">
            <a:off x="-2971144" y="2887494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59995">
            <a:off x="-1975167" y="7847038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4" y="0"/>
                </a:lnTo>
                <a:lnTo>
                  <a:pt x="6007734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259001">
            <a:off x="3811502" y="8297380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355166" y="4053931"/>
            <a:ext cx="11577669" cy="4098942"/>
            <a:chOff x="0" y="0"/>
            <a:chExt cx="3049263" cy="10795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49263" cy="1079557"/>
            </a:xfrm>
            <a:custGeom>
              <a:avLst/>
              <a:gdLst/>
              <a:ahLst/>
              <a:cxnLst/>
              <a:rect r="r" b="b" t="t" l="l"/>
              <a:pathLst>
                <a:path h="1079557" w="3049263">
                  <a:moveTo>
                    <a:pt x="23404" y="0"/>
                  </a:moveTo>
                  <a:lnTo>
                    <a:pt x="3025858" y="0"/>
                  </a:lnTo>
                  <a:cubicBezTo>
                    <a:pt x="3032066" y="0"/>
                    <a:pt x="3038018" y="2466"/>
                    <a:pt x="3042408" y="6855"/>
                  </a:cubicBezTo>
                  <a:cubicBezTo>
                    <a:pt x="3046797" y="11244"/>
                    <a:pt x="3049263" y="17197"/>
                    <a:pt x="3049263" y="23404"/>
                  </a:cubicBezTo>
                  <a:lnTo>
                    <a:pt x="3049263" y="1056152"/>
                  </a:lnTo>
                  <a:cubicBezTo>
                    <a:pt x="3049263" y="1062360"/>
                    <a:pt x="3046797" y="1068313"/>
                    <a:pt x="3042408" y="1072702"/>
                  </a:cubicBezTo>
                  <a:cubicBezTo>
                    <a:pt x="3038018" y="1077091"/>
                    <a:pt x="3032066" y="1079557"/>
                    <a:pt x="3025858" y="1079557"/>
                  </a:cubicBezTo>
                  <a:lnTo>
                    <a:pt x="23404" y="1079557"/>
                  </a:lnTo>
                  <a:cubicBezTo>
                    <a:pt x="17197" y="1079557"/>
                    <a:pt x="11244" y="1077091"/>
                    <a:pt x="6855" y="1072702"/>
                  </a:cubicBezTo>
                  <a:cubicBezTo>
                    <a:pt x="2466" y="1068313"/>
                    <a:pt x="0" y="1062360"/>
                    <a:pt x="0" y="1056152"/>
                  </a:cubicBezTo>
                  <a:lnTo>
                    <a:pt x="0" y="23404"/>
                  </a:lnTo>
                  <a:cubicBezTo>
                    <a:pt x="0" y="17197"/>
                    <a:pt x="2466" y="11244"/>
                    <a:pt x="6855" y="6855"/>
                  </a:cubicBezTo>
                  <a:cubicBezTo>
                    <a:pt x="11244" y="2466"/>
                    <a:pt x="17197" y="0"/>
                    <a:pt x="23404" y="0"/>
                  </a:cubicBezTo>
                  <a:close/>
                </a:path>
              </a:pathLst>
            </a:custGeom>
            <a:solidFill>
              <a:srgbClr val="D3E7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049263" cy="1117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542023" y="336717"/>
            <a:ext cx="11203954" cy="260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07"/>
              </a:lnSpc>
            </a:pPr>
            <a:r>
              <a:rPr lang="en-US" sz="10008">
                <a:solidFill>
                  <a:srgbClr val="022033"/>
                </a:solidFill>
                <a:latin typeface="Childling"/>
                <a:ea typeface="Childling"/>
                <a:cs typeface="Childling"/>
                <a:sym typeface="Childling"/>
              </a:rPr>
              <a:t>HACKEANDO EL CEREBRO (MARKETING)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37287" y="4672336"/>
            <a:ext cx="10413426" cy="3919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71" indent="-345435" lvl="1">
              <a:lnSpc>
                <a:spcPts val="4479"/>
              </a:lnSpc>
              <a:buFont typeface="Arial"/>
              <a:buChar char="•"/>
            </a:pPr>
            <a:r>
              <a:rPr lang="en-US" sz="3199" spc="179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Las marcas potentes (Apple, Starbucks) no venden productos, venden experiencias que entran directo al subconsciente.</a:t>
            </a:r>
          </a:p>
          <a:p>
            <a:pPr algn="just" marL="690871" indent="-345435" lvl="1">
              <a:lnSpc>
                <a:spcPts val="4479"/>
              </a:lnSpc>
              <a:buFont typeface="Arial"/>
              <a:buChar char="•"/>
            </a:pPr>
            <a:r>
              <a:rPr lang="en-US" sz="3199" spc="179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Los supermercados ponen lo básico al fondo para obligarnos a recorrer pasillos y lo caro a la altura de los ojos.</a:t>
            </a:r>
          </a:p>
          <a:p>
            <a:pPr algn="just" marL="690871" indent="-345435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 spc="179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Creemos más en la recomendación de un amigo (viralidad) que en la publicidad de la televisión.</a:t>
            </a:r>
          </a:p>
          <a:p>
            <a:pPr algn="just">
              <a:lnSpc>
                <a:spcPts val="447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082133" y="2909519"/>
            <a:ext cx="6123734" cy="59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0"/>
              </a:lnSpc>
              <a:spcBef>
                <a:spcPct val="0"/>
              </a:spcBef>
            </a:pPr>
            <a:r>
              <a:rPr lang="en-US" sz="3457" spc="193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 LAS EMOCIONES EN EL MERCADO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7491922">
            <a:off x="13638276" y="-3687274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6784072">
            <a:off x="15316856" y="4078839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662838">
            <a:off x="-3485174" y="2966142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340004">
            <a:off x="1697950" y="-2872258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6466269">
            <a:off x="-2809765" y="-872037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254602">
            <a:off x="-3807921" y="6286728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2879173" y="9484783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0340004">
            <a:off x="8074247" y="8634218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308077">
            <a:off x="14314722" y="7394467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4015927">
            <a:off x="15692140" y="2992339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0340004">
            <a:off x="14255433" y="-2098732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4" y="0"/>
                </a:lnTo>
                <a:lnTo>
                  <a:pt x="6007734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8540998">
            <a:off x="7609733" y="-6301528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4015927">
            <a:off x="4754424" y="-3531439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7207441" y="4340790"/>
            <a:ext cx="3873118" cy="4381702"/>
            <a:chOff x="0" y="0"/>
            <a:chExt cx="1020080" cy="11540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20080" cy="1154028"/>
            </a:xfrm>
            <a:custGeom>
              <a:avLst/>
              <a:gdLst/>
              <a:ahLst/>
              <a:cxnLst/>
              <a:rect r="r" b="b" t="t" l="l"/>
              <a:pathLst>
                <a:path h="1154028" w="1020080">
                  <a:moveTo>
                    <a:pt x="101943" y="0"/>
                  </a:moveTo>
                  <a:lnTo>
                    <a:pt x="918137" y="0"/>
                  </a:lnTo>
                  <a:cubicBezTo>
                    <a:pt x="974439" y="0"/>
                    <a:pt x="1020080" y="45642"/>
                    <a:pt x="1020080" y="101943"/>
                  </a:cubicBezTo>
                  <a:lnTo>
                    <a:pt x="1020080" y="1052085"/>
                  </a:lnTo>
                  <a:cubicBezTo>
                    <a:pt x="1020080" y="1079122"/>
                    <a:pt x="1009340" y="1105052"/>
                    <a:pt x="990222" y="1124170"/>
                  </a:cubicBezTo>
                  <a:cubicBezTo>
                    <a:pt x="971104" y="1143288"/>
                    <a:pt x="945174" y="1154028"/>
                    <a:pt x="918137" y="1154028"/>
                  </a:cubicBezTo>
                  <a:lnTo>
                    <a:pt x="101943" y="1154028"/>
                  </a:lnTo>
                  <a:cubicBezTo>
                    <a:pt x="74906" y="1154028"/>
                    <a:pt x="48977" y="1143288"/>
                    <a:pt x="29858" y="1124170"/>
                  </a:cubicBezTo>
                  <a:cubicBezTo>
                    <a:pt x="10740" y="1105052"/>
                    <a:pt x="0" y="1079122"/>
                    <a:pt x="0" y="1052085"/>
                  </a:cubicBezTo>
                  <a:lnTo>
                    <a:pt x="0" y="101943"/>
                  </a:lnTo>
                  <a:cubicBezTo>
                    <a:pt x="0" y="74906"/>
                    <a:pt x="10740" y="48977"/>
                    <a:pt x="29858" y="29858"/>
                  </a:cubicBezTo>
                  <a:cubicBezTo>
                    <a:pt x="48977" y="10740"/>
                    <a:pt x="74906" y="0"/>
                    <a:pt x="101943" y="0"/>
                  </a:cubicBezTo>
                  <a:close/>
                </a:path>
              </a:pathLst>
            </a:custGeom>
            <a:solidFill>
              <a:srgbClr val="61A0E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20080" cy="11921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765258" y="2941316"/>
            <a:ext cx="3873118" cy="4381702"/>
            <a:chOff x="0" y="0"/>
            <a:chExt cx="1020080" cy="11540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0080" cy="1154028"/>
            </a:xfrm>
            <a:custGeom>
              <a:avLst/>
              <a:gdLst/>
              <a:ahLst/>
              <a:cxnLst/>
              <a:rect r="r" b="b" t="t" l="l"/>
              <a:pathLst>
                <a:path h="1154028" w="1020080">
                  <a:moveTo>
                    <a:pt x="101943" y="0"/>
                  </a:moveTo>
                  <a:lnTo>
                    <a:pt x="918137" y="0"/>
                  </a:lnTo>
                  <a:cubicBezTo>
                    <a:pt x="974439" y="0"/>
                    <a:pt x="1020080" y="45642"/>
                    <a:pt x="1020080" y="101943"/>
                  </a:cubicBezTo>
                  <a:lnTo>
                    <a:pt x="1020080" y="1052085"/>
                  </a:lnTo>
                  <a:cubicBezTo>
                    <a:pt x="1020080" y="1079122"/>
                    <a:pt x="1009340" y="1105052"/>
                    <a:pt x="990222" y="1124170"/>
                  </a:cubicBezTo>
                  <a:cubicBezTo>
                    <a:pt x="971104" y="1143288"/>
                    <a:pt x="945174" y="1154028"/>
                    <a:pt x="918137" y="1154028"/>
                  </a:cubicBezTo>
                  <a:lnTo>
                    <a:pt x="101943" y="1154028"/>
                  </a:lnTo>
                  <a:cubicBezTo>
                    <a:pt x="74906" y="1154028"/>
                    <a:pt x="48977" y="1143288"/>
                    <a:pt x="29858" y="1124170"/>
                  </a:cubicBezTo>
                  <a:cubicBezTo>
                    <a:pt x="10740" y="1105052"/>
                    <a:pt x="0" y="1079122"/>
                    <a:pt x="0" y="1052085"/>
                  </a:cubicBezTo>
                  <a:lnTo>
                    <a:pt x="0" y="101943"/>
                  </a:lnTo>
                  <a:cubicBezTo>
                    <a:pt x="0" y="74906"/>
                    <a:pt x="10740" y="48977"/>
                    <a:pt x="29858" y="29858"/>
                  </a:cubicBezTo>
                  <a:cubicBezTo>
                    <a:pt x="48977" y="10740"/>
                    <a:pt x="74906" y="0"/>
                    <a:pt x="101943" y="0"/>
                  </a:cubicBezTo>
                  <a:close/>
                </a:path>
              </a:pathLst>
            </a:custGeom>
            <a:solidFill>
              <a:srgbClr val="116EE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20080" cy="11921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5411255" y="428135"/>
            <a:ext cx="7374262" cy="260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07"/>
              </a:lnSpc>
            </a:pPr>
            <a:r>
              <a:rPr lang="en-US" sz="10008">
                <a:solidFill>
                  <a:srgbClr val="022033"/>
                </a:solidFill>
                <a:latin typeface="Childling"/>
                <a:ea typeface="Childling"/>
                <a:cs typeface="Childling"/>
                <a:sym typeface="Childling"/>
              </a:rPr>
              <a:t>SABIDURÍA Y CONCLUSIÓN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652059" y="2871040"/>
            <a:ext cx="3873118" cy="4381702"/>
            <a:chOff x="0" y="0"/>
            <a:chExt cx="1020080" cy="11540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0080" cy="1154028"/>
            </a:xfrm>
            <a:custGeom>
              <a:avLst/>
              <a:gdLst/>
              <a:ahLst/>
              <a:cxnLst/>
              <a:rect r="r" b="b" t="t" l="l"/>
              <a:pathLst>
                <a:path h="1154028" w="1020080">
                  <a:moveTo>
                    <a:pt x="101943" y="0"/>
                  </a:moveTo>
                  <a:lnTo>
                    <a:pt x="918137" y="0"/>
                  </a:lnTo>
                  <a:cubicBezTo>
                    <a:pt x="974439" y="0"/>
                    <a:pt x="1020080" y="45642"/>
                    <a:pt x="1020080" y="101943"/>
                  </a:cubicBezTo>
                  <a:lnTo>
                    <a:pt x="1020080" y="1052085"/>
                  </a:lnTo>
                  <a:cubicBezTo>
                    <a:pt x="1020080" y="1079122"/>
                    <a:pt x="1009340" y="1105052"/>
                    <a:pt x="990222" y="1124170"/>
                  </a:cubicBezTo>
                  <a:cubicBezTo>
                    <a:pt x="971104" y="1143288"/>
                    <a:pt x="945174" y="1154028"/>
                    <a:pt x="918137" y="1154028"/>
                  </a:cubicBezTo>
                  <a:lnTo>
                    <a:pt x="101943" y="1154028"/>
                  </a:lnTo>
                  <a:cubicBezTo>
                    <a:pt x="74906" y="1154028"/>
                    <a:pt x="48977" y="1143288"/>
                    <a:pt x="29858" y="1124170"/>
                  </a:cubicBezTo>
                  <a:cubicBezTo>
                    <a:pt x="10740" y="1105052"/>
                    <a:pt x="0" y="1079122"/>
                    <a:pt x="0" y="1052085"/>
                  </a:cubicBezTo>
                  <a:lnTo>
                    <a:pt x="0" y="101943"/>
                  </a:lnTo>
                  <a:cubicBezTo>
                    <a:pt x="0" y="74906"/>
                    <a:pt x="10740" y="48977"/>
                    <a:pt x="29858" y="29858"/>
                  </a:cubicBezTo>
                  <a:cubicBezTo>
                    <a:pt x="48977" y="10740"/>
                    <a:pt x="74906" y="0"/>
                    <a:pt x="101943" y="0"/>
                  </a:cubicBezTo>
                  <a:close/>
                </a:path>
              </a:pathLst>
            </a:custGeom>
            <a:solidFill>
              <a:srgbClr val="D3E7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20080" cy="11921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3031218" y="3891871"/>
            <a:ext cx="3341199" cy="248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 spc="156">
                <a:solidFill>
                  <a:srgbClr val="FFFFFF"/>
                </a:solidFill>
                <a:latin typeface="Marykate"/>
                <a:ea typeface="Marykate"/>
                <a:cs typeface="Marykate"/>
                <a:sym typeface="Marykate"/>
              </a:rPr>
              <a:t>C</a:t>
            </a:r>
            <a:r>
              <a:rPr lang="en-US" sz="2799" spc="156">
                <a:solidFill>
                  <a:srgbClr val="FFFFFF"/>
                </a:solidFill>
                <a:latin typeface="Marykate"/>
                <a:ea typeface="Marykate"/>
                <a:cs typeface="Marykate"/>
                <a:sym typeface="Marykate"/>
              </a:rPr>
              <a:t>on los años se pierde memoria inmediata, pero se gana una red enorme de recuerdos para conectar ideas sabias.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572457" y="5422679"/>
            <a:ext cx="3145522" cy="198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 spc="156">
                <a:solidFill>
                  <a:srgbClr val="000000"/>
                </a:solidFill>
                <a:latin typeface="Marykate"/>
                <a:ea typeface="Marykate"/>
                <a:cs typeface="Marykate"/>
                <a:sym typeface="Marykate"/>
              </a:rPr>
              <a:t>T</a:t>
            </a:r>
            <a:r>
              <a:rPr lang="en-US" sz="2799" spc="156">
                <a:solidFill>
                  <a:srgbClr val="000000"/>
                </a:solidFill>
                <a:latin typeface="Marykate"/>
                <a:ea typeface="Marykate"/>
                <a:cs typeface="Marykate"/>
                <a:sym typeface="Marykate"/>
              </a:rPr>
              <a:t>odo lo que somos se reduce a la sinapsis: el diálogo constante entre neuronas.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268037" y="3280562"/>
            <a:ext cx="2782395" cy="687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80"/>
              </a:lnSpc>
              <a:spcBef>
                <a:spcPct val="0"/>
              </a:spcBef>
            </a:pPr>
            <a:r>
              <a:rPr lang="en-US" sz="4057" spc="227">
                <a:solidFill>
                  <a:srgbClr val="000000"/>
                </a:solidFill>
                <a:latin typeface="Marykate"/>
                <a:ea typeface="Marykate"/>
                <a:cs typeface="Marykate"/>
                <a:sym typeface="Marykate"/>
              </a:rPr>
              <a:t>CONCLUSIÓN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97558" y="4264590"/>
            <a:ext cx="2782120" cy="198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 spc="156">
                <a:solidFill>
                  <a:srgbClr val="000000"/>
                </a:solidFill>
                <a:latin typeface="Marykate"/>
                <a:ea typeface="Marykate"/>
                <a:cs typeface="Marykate"/>
                <a:sym typeface="Marykate"/>
              </a:rPr>
              <a:t>No somos autómatas programados; somos seres llenos de subjetividad.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124254" y="3223412"/>
            <a:ext cx="4039493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168">
                <a:solidFill>
                  <a:srgbClr val="000000"/>
                </a:solidFill>
                <a:latin typeface="Childling"/>
                <a:ea typeface="Childling"/>
                <a:cs typeface="Childling"/>
                <a:sym typeface="Childling"/>
              </a:rPr>
              <a:t>EL VALOR DE LA EXPERIENCIA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30356" y="3015927"/>
            <a:ext cx="14427288" cy="5068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2"/>
              </a:lnSpc>
            </a:pPr>
            <a:r>
              <a:rPr lang="en-US" sz="19394">
                <a:solidFill>
                  <a:srgbClr val="022033"/>
                </a:solidFill>
                <a:latin typeface="Childling"/>
                <a:ea typeface="Childling"/>
                <a:cs typeface="Childling"/>
                <a:sym typeface="Childling"/>
              </a:rPr>
              <a:t>¡MUCHAS GRACIAS!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7910484">
            <a:off x="-495162" y="7935975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806484">
            <a:off x="-3174902" y="3100376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137161">
            <a:off x="11071276" y="-3108299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333730">
            <a:off x="15635070" y="-90841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700000">
            <a:off x="-1883985" y="-5382413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700000">
            <a:off x="15458638" y="4595144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DAHN5QLY09w</dc:identifier>
  <dcterms:modified xsi:type="dcterms:W3CDTF">2011-08-01T06:04:30Z</dcterms:modified>
  <cp:revision>1</cp:revision>
  <dc:title>Presentación Proyecto Trabajo Creativa Organico Azul</dc:title>
</cp:coreProperties>
</file>